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  <p:custDataLst>
    <p:tags r:id="rId2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E1AA"/>
    <a:srgbClr val="FFD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18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png"/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6.png"/><Relationship Id="rId2" Type="http://schemas.openxmlformats.org/officeDocument/2006/relationships/image" Target="../media/image15.png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27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4" name="Text 2"/>
          <p:cNvSpPr/>
          <p:nvPr/>
        </p:nvSpPr>
        <p:spPr>
          <a:xfrm>
            <a:off x="457200" y="109728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防冲队跟班队长</a:t>
            </a:r>
            <a:endParaRPr lang="en-US" sz="4000" dirty="0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岗位描述竞赛</a:t>
            </a:r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 · 筑牢现场安全第一道防线 ——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眼到</a:t>
            </a:r>
            <a:r>
              <a:rPr lang="en-US" sz="13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· </a:t>
            </a:r>
            <a:r>
              <a:rPr lang="en-US" sz="1300" b="1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口到</a:t>
            </a:r>
            <a:r>
              <a:rPr lang="en-US" sz="13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· </a:t>
            </a:r>
            <a:r>
              <a:rPr lang="en-US" sz="1300" b="1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手到</a:t>
            </a:r>
            <a:r>
              <a:rPr lang="en-US" sz="13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· </a:t>
            </a:r>
            <a:r>
              <a:rPr lang="en-US" sz="1300" b="1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防冲队 ·</a:t>
            </a:r>
            <a:r>
              <a:rPr lang="zh-CN" altLang="en-US" sz="11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王浩浩</a:t>
            </a:r>
            <a:endParaRPr lang="zh-CN" altLang="en-US" sz="1100" b="1" dirty="0">
              <a:solidFill>
                <a:srgbClr val="94A3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岗位描述</a:t>
            </a:r>
            <a:r>
              <a:rPr lang="en-US" sz="3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——安全</a:t>
            </a:r>
            <a:r>
              <a:rPr lang="zh-CN" altLang="en-US" sz="3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生产之</a:t>
            </a:r>
            <a:r>
              <a:rPr lang="zh-CN" altLang="en-US" sz="3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</a:t>
            </a:r>
            <a:endParaRPr lang="zh-CN" altLang="en-US" sz="3000" b="1" dirty="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16</a:t>
            </a:r>
            <a:endParaRPr lang="en-US" sz="9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457200" y="1417320"/>
            <a:ext cx="3931920" cy="4572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11" name="Shape 8"/>
          <p:cNvSpPr/>
          <p:nvPr>
            <p:custDataLst>
              <p:tags r:id="rId2"/>
            </p:custDataLst>
          </p:nvPr>
        </p:nvSpPr>
        <p:spPr>
          <a:xfrm>
            <a:off x="4754880" y="1417320"/>
            <a:ext cx="3931920" cy="3108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>
            <p:custDataLst>
              <p:tags r:id="rId3"/>
            </p:custDataLst>
          </p:nvPr>
        </p:nvSpPr>
        <p:spPr>
          <a:xfrm>
            <a:off x="4754880" y="1417320"/>
            <a:ext cx="3931920" cy="45720"/>
          </a:xfrm>
          <a:prstGeom prst="rect">
            <a:avLst/>
          </a:prstGeom>
          <a:solidFill>
            <a:srgbClr val="243B6A"/>
          </a:solidFill>
        </p:spPr>
      </p:sp>
      <p:pic>
        <p:nvPicPr>
          <p:cNvPr id="13" name="Image 1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29200" y="16459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>
            <p:custDataLst>
              <p:tags r:id="rId6"/>
            </p:custDataLst>
          </p:nvPr>
        </p:nvSpPr>
        <p:spPr>
          <a:xfrm>
            <a:off x="5532120" y="1645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跟班队长/副队长的角色</a:t>
            </a:r>
            <a:endParaRPr lang="en-US" sz="1600" dirty="0"/>
          </a:p>
        </p:txBody>
      </p:sp>
      <p:sp>
        <p:nvSpPr>
          <p:cNvPr id="15" name="Text 11"/>
          <p:cNvSpPr/>
          <p:nvPr>
            <p:custDataLst>
              <p:tags r:id="rId7"/>
            </p:custDataLst>
          </p:nvPr>
        </p:nvSpPr>
        <p:spPr>
          <a:xfrm>
            <a:off x="5029200" y="2148840"/>
            <a:ext cx="3383280" cy="2240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跟班队长（第一责任人）：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作为井下现场安全管理的第一责任人，将</a:t>
            </a:r>
            <a:r>
              <a:rPr lang="zh-CN" alt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</a:t>
            </a: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安全指令精准传达，把隐患排查落实到每一个操作细节，确保班组作业全过程安全可控。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>
              <a:solidFill>
                <a:srgbClr val="1E293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检查执行"三大"规程，把好防冲技术关；</a:t>
            </a:r>
            <a:endParaRPr lang="en-US" sz="1000" dirty="0">
              <a:solidFill>
                <a:srgbClr val="1E293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做好防冲设备管理与维修，</a:t>
            </a:r>
            <a:endParaRPr lang="en-US" sz="1000" dirty="0">
              <a:solidFill>
                <a:srgbClr val="1E293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建立健全设备管理制度；不断提升队伍整体素质。</a:t>
            </a:r>
            <a:endParaRPr lang="en-US" sz="1100" dirty="0"/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2802453" y="3923439"/>
            <a:ext cx="1482232" cy="5242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40" b="1">
                <a:solidFill>
                  <a:srgbClr val="FFC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安全</a:t>
            </a:r>
            <a:endParaRPr lang="zh-CN" altLang="en-US" sz="2040" b="1">
              <a:solidFill>
                <a:srgbClr val="FFC00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0" name="任意多边形 69"/>
          <p:cNvSpPr/>
          <p:nvPr>
            <p:custDataLst>
              <p:tags r:id="rId9"/>
            </p:custDataLst>
          </p:nvPr>
        </p:nvSpPr>
        <p:spPr>
          <a:xfrm rot="780000">
            <a:off x="1477635" y="2559259"/>
            <a:ext cx="1222597" cy="313905"/>
          </a:xfrm>
          <a:custGeom>
            <a:avLst/>
            <a:gdLst>
              <a:gd name="connsiteX0" fmla="*/ 0 w 2932"/>
              <a:gd name="connsiteY0" fmla="*/ 682 h 716"/>
              <a:gd name="connsiteX1" fmla="*/ 1366 w 2932"/>
              <a:gd name="connsiteY1" fmla="*/ 0 h 716"/>
              <a:gd name="connsiteX2" fmla="*/ 2932 w 2932"/>
              <a:gd name="connsiteY2" fmla="*/ 9 h 716"/>
              <a:gd name="connsiteX3" fmla="*/ 1573 w 2932"/>
              <a:gd name="connsiteY3" fmla="*/ 716 h 716"/>
              <a:gd name="connsiteX4" fmla="*/ 0 w 2932"/>
              <a:gd name="connsiteY4" fmla="*/ 682 h 716"/>
              <a:gd name="connsiteX0-1" fmla="*/ 0 w 10000"/>
              <a:gd name="connsiteY0-2" fmla="*/ 9525 h 10471"/>
              <a:gd name="connsiteX1-3" fmla="*/ 4659 w 10000"/>
              <a:gd name="connsiteY1-4" fmla="*/ 0 h 10471"/>
              <a:gd name="connsiteX2-5" fmla="*/ 10000 w 10000"/>
              <a:gd name="connsiteY2-6" fmla="*/ 126 h 10471"/>
              <a:gd name="connsiteX3-7" fmla="*/ 5226 w 10000"/>
              <a:gd name="connsiteY3-8" fmla="*/ 10471 h 10471"/>
              <a:gd name="connsiteX4-9" fmla="*/ 0 w 10000"/>
              <a:gd name="connsiteY4-10" fmla="*/ 9525 h 10471"/>
              <a:gd name="connsiteX0-11" fmla="*/ 0 w 10000"/>
              <a:gd name="connsiteY0-12" fmla="*/ 9399 h 10345"/>
              <a:gd name="connsiteX1-13" fmla="*/ 4741 w 10000"/>
              <a:gd name="connsiteY1-14" fmla="*/ 221 h 10345"/>
              <a:gd name="connsiteX2-15" fmla="*/ 10000 w 10000"/>
              <a:gd name="connsiteY2-16" fmla="*/ 0 h 10345"/>
              <a:gd name="connsiteX3-17" fmla="*/ 5226 w 10000"/>
              <a:gd name="connsiteY3-18" fmla="*/ 10345 h 10345"/>
              <a:gd name="connsiteX4-19" fmla="*/ 0 w 10000"/>
              <a:gd name="connsiteY4-20" fmla="*/ 9399 h 10345"/>
              <a:gd name="connsiteX0-21" fmla="*/ 0 w 9902"/>
              <a:gd name="connsiteY0-22" fmla="*/ 9306 h 10252"/>
              <a:gd name="connsiteX1-23" fmla="*/ 4741 w 9902"/>
              <a:gd name="connsiteY1-24" fmla="*/ 128 h 10252"/>
              <a:gd name="connsiteX2-25" fmla="*/ 9902 w 9902"/>
              <a:gd name="connsiteY2-26" fmla="*/ 0 h 10252"/>
              <a:gd name="connsiteX3-27" fmla="*/ 5226 w 9902"/>
              <a:gd name="connsiteY3-28" fmla="*/ 10252 h 10252"/>
              <a:gd name="connsiteX4-29" fmla="*/ 0 w 9902"/>
              <a:gd name="connsiteY4-30" fmla="*/ 9306 h 10252"/>
              <a:gd name="connsiteX0-31" fmla="*/ 0 w 10000"/>
              <a:gd name="connsiteY0-32" fmla="*/ 9077 h 10000"/>
              <a:gd name="connsiteX1-33" fmla="*/ 4695 w 10000"/>
              <a:gd name="connsiteY1-34" fmla="*/ 210 h 10000"/>
              <a:gd name="connsiteX2-35" fmla="*/ 10000 w 10000"/>
              <a:gd name="connsiteY2-36" fmla="*/ 0 h 10000"/>
              <a:gd name="connsiteX3-37" fmla="*/ 5278 w 10000"/>
              <a:gd name="connsiteY3-38" fmla="*/ 10000 h 10000"/>
              <a:gd name="connsiteX4-39" fmla="*/ 0 w 10000"/>
              <a:gd name="connsiteY4-40" fmla="*/ 9077 h 10000"/>
              <a:gd name="connsiteX0-41" fmla="*/ 0 w 10000"/>
              <a:gd name="connsiteY0-42" fmla="*/ 9077 h 10113"/>
              <a:gd name="connsiteX1-43" fmla="*/ 4695 w 10000"/>
              <a:gd name="connsiteY1-44" fmla="*/ 210 h 10113"/>
              <a:gd name="connsiteX2-45" fmla="*/ 10000 w 10000"/>
              <a:gd name="connsiteY2-46" fmla="*/ 0 h 10113"/>
              <a:gd name="connsiteX3-47" fmla="*/ 5366 w 10000"/>
              <a:gd name="connsiteY3-48" fmla="*/ 10113 h 10113"/>
              <a:gd name="connsiteX4-49" fmla="*/ 0 w 10000"/>
              <a:gd name="connsiteY4-50" fmla="*/ 9077 h 10113"/>
              <a:gd name="connsiteX0-51" fmla="*/ 0 w 10000"/>
              <a:gd name="connsiteY0-52" fmla="*/ 9077 h 10155"/>
              <a:gd name="connsiteX1-53" fmla="*/ 4695 w 10000"/>
              <a:gd name="connsiteY1-54" fmla="*/ 210 h 10155"/>
              <a:gd name="connsiteX2-55" fmla="*/ 10000 w 10000"/>
              <a:gd name="connsiteY2-56" fmla="*/ 0 h 10155"/>
              <a:gd name="connsiteX3-57" fmla="*/ 5320 w 10000"/>
              <a:gd name="connsiteY3-58" fmla="*/ 10155 h 10155"/>
              <a:gd name="connsiteX4-59" fmla="*/ 0 w 10000"/>
              <a:gd name="connsiteY4-60" fmla="*/ 9077 h 1015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155">
                <a:moveTo>
                  <a:pt x="0" y="9077"/>
                </a:moveTo>
                <a:lnTo>
                  <a:pt x="4695" y="210"/>
                </a:lnTo>
                <a:lnTo>
                  <a:pt x="10000" y="0"/>
                </a:lnTo>
                <a:lnTo>
                  <a:pt x="5320" y="10155"/>
                </a:lnTo>
                <a:lnTo>
                  <a:pt x="0" y="9077"/>
                </a:lnTo>
                <a:close/>
              </a:path>
            </a:pathLst>
          </a:custGeom>
          <a:solidFill>
            <a:srgbClr val="17D594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53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任意多边形 72"/>
          <p:cNvSpPr/>
          <p:nvPr>
            <p:custDataLst>
              <p:tags r:id="rId10"/>
            </p:custDataLst>
          </p:nvPr>
        </p:nvSpPr>
        <p:spPr>
          <a:xfrm rot="780000">
            <a:off x="881959" y="3366948"/>
            <a:ext cx="2434647" cy="622808"/>
          </a:xfrm>
          <a:custGeom>
            <a:avLst/>
            <a:gdLst>
              <a:gd name="connsiteX0" fmla="*/ 0 w 5851"/>
              <a:gd name="connsiteY0" fmla="*/ 1374 h 1420"/>
              <a:gd name="connsiteX1" fmla="*/ 2688 w 5851"/>
              <a:gd name="connsiteY1" fmla="*/ 0 h 1420"/>
              <a:gd name="connsiteX2" fmla="*/ 5851 w 5851"/>
              <a:gd name="connsiteY2" fmla="*/ 24 h 1420"/>
              <a:gd name="connsiteX3" fmla="*/ 3100 w 5851"/>
              <a:gd name="connsiteY3" fmla="*/ 1420 h 1420"/>
              <a:gd name="connsiteX4" fmla="*/ 0 w 5851"/>
              <a:gd name="connsiteY4" fmla="*/ 1374 h 1420"/>
              <a:gd name="connsiteX0-1" fmla="*/ 0 w 9867"/>
              <a:gd name="connsiteY0-2" fmla="*/ 9676 h 10000"/>
              <a:gd name="connsiteX1-3" fmla="*/ 4594 w 9867"/>
              <a:gd name="connsiteY1-4" fmla="*/ 0 h 10000"/>
              <a:gd name="connsiteX2-5" fmla="*/ 9867 w 9867"/>
              <a:gd name="connsiteY2-6" fmla="*/ 216 h 10000"/>
              <a:gd name="connsiteX3-7" fmla="*/ 5298 w 9867"/>
              <a:gd name="connsiteY3-8" fmla="*/ 10000 h 10000"/>
              <a:gd name="connsiteX4-9" fmla="*/ 0 w 9867"/>
              <a:gd name="connsiteY4-10" fmla="*/ 9676 h 10000"/>
              <a:gd name="connsiteX0-11" fmla="*/ 0 w 10023"/>
              <a:gd name="connsiteY0-12" fmla="*/ 9676 h 10000"/>
              <a:gd name="connsiteX1-13" fmla="*/ 4656 w 10023"/>
              <a:gd name="connsiteY1-14" fmla="*/ 0 h 10000"/>
              <a:gd name="connsiteX2-15" fmla="*/ 10023 w 10023"/>
              <a:gd name="connsiteY2-16" fmla="*/ 275 h 10000"/>
              <a:gd name="connsiteX3-17" fmla="*/ 5369 w 10023"/>
              <a:gd name="connsiteY3-18" fmla="*/ 10000 h 10000"/>
              <a:gd name="connsiteX4-19" fmla="*/ 0 w 10023"/>
              <a:gd name="connsiteY4-20" fmla="*/ 9676 h 10000"/>
              <a:gd name="connsiteX0-21" fmla="*/ 0 w 10023"/>
              <a:gd name="connsiteY0-22" fmla="*/ 9676 h 10474"/>
              <a:gd name="connsiteX1-23" fmla="*/ 4656 w 10023"/>
              <a:gd name="connsiteY1-24" fmla="*/ 0 h 10474"/>
              <a:gd name="connsiteX2-25" fmla="*/ 10023 w 10023"/>
              <a:gd name="connsiteY2-26" fmla="*/ 275 h 10474"/>
              <a:gd name="connsiteX3-27" fmla="*/ 5337 w 10023"/>
              <a:gd name="connsiteY3-28" fmla="*/ 10474 h 10474"/>
              <a:gd name="connsiteX4-29" fmla="*/ 0 w 10023"/>
              <a:gd name="connsiteY4-30" fmla="*/ 9676 h 10474"/>
              <a:gd name="connsiteX0-31" fmla="*/ 0 w 10023"/>
              <a:gd name="connsiteY0-32" fmla="*/ 9756 h 10554"/>
              <a:gd name="connsiteX1-33" fmla="*/ 4740 w 10023"/>
              <a:gd name="connsiteY1-34" fmla="*/ 0 h 10554"/>
              <a:gd name="connsiteX2-35" fmla="*/ 10023 w 10023"/>
              <a:gd name="connsiteY2-36" fmla="*/ 355 h 10554"/>
              <a:gd name="connsiteX3-37" fmla="*/ 5337 w 10023"/>
              <a:gd name="connsiteY3-38" fmla="*/ 10554 h 10554"/>
              <a:gd name="connsiteX4-39" fmla="*/ 0 w 10023"/>
              <a:gd name="connsiteY4-40" fmla="*/ 9756 h 10554"/>
              <a:gd name="connsiteX0-41" fmla="*/ 0 w 10007"/>
              <a:gd name="connsiteY0-42" fmla="*/ 9756 h 10554"/>
              <a:gd name="connsiteX1-43" fmla="*/ 4740 w 10007"/>
              <a:gd name="connsiteY1-44" fmla="*/ 0 h 10554"/>
              <a:gd name="connsiteX2-45" fmla="*/ 10007 w 10007"/>
              <a:gd name="connsiteY2-46" fmla="*/ 249 h 10554"/>
              <a:gd name="connsiteX3-47" fmla="*/ 5337 w 10007"/>
              <a:gd name="connsiteY3-48" fmla="*/ 10554 h 10554"/>
              <a:gd name="connsiteX4-49" fmla="*/ 0 w 10007"/>
              <a:gd name="connsiteY4-50" fmla="*/ 9756 h 1055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7" h="10554">
                <a:moveTo>
                  <a:pt x="0" y="9756"/>
                </a:moveTo>
                <a:lnTo>
                  <a:pt x="4740" y="0"/>
                </a:lnTo>
                <a:lnTo>
                  <a:pt x="10007" y="249"/>
                </a:lnTo>
                <a:lnTo>
                  <a:pt x="5337" y="10554"/>
                </a:lnTo>
                <a:lnTo>
                  <a:pt x="0" y="9756"/>
                </a:lnTo>
                <a:close/>
              </a:path>
            </a:pathLst>
          </a:custGeom>
          <a:solidFill>
            <a:srgbClr val="FFC000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53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01"/>
          <p:cNvSpPr/>
          <p:nvPr>
            <p:custDataLst>
              <p:tags r:id="rId11"/>
            </p:custDataLst>
          </p:nvPr>
        </p:nvSpPr>
        <p:spPr>
          <a:xfrm>
            <a:off x="1519852" y="1730230"/>
            <a:ext cx="578155" cy="1039698"/>
          </a:xfrm>
          <a:custGeom>
            <a:avLst/>
            <a:gdLst>
              <a:gd name="connsiteX0" fmla="*/ 788186 w 791357"/>
              <a:gd name="connsiteY0" fmla="*/ 0 h 1423101"/>
              <a:gd name="connsiteX1" fmla="*/ 791357 w 791357"/>
              <a:gd name="connsiteY1" fmla="*/ 5109 h 1423101"/>
              <a:gd name="connsiteX2" fmla="*/ 791357 w 791357"/>
              <a:gd name="connsiteY2" fmla="*/ 1423101 h 1423101"/>
              <a:gd name="connsiteX3" fmla="*/ 0 w 791357"/>
              <a:gd name="connsiteY3" fmla="*/ 1215155 h 142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1357" h="1423101">
                <a:moveTo>
                  <a:pt x="788186" y="0"/>
                </a:moveTo>
                <a:lnTo>
                  <a:pt x="791357" y="5109"/>
                </a:lnTo>
                <a:lnTo>
                  <a:pt x="791357" y="1423101"/>
                </a:lnTo>
                <a:lnTo>
                  <a:pt x="0" y="1215155"/>
                </a:lnTo>
                <a:close/>
              </a:path>
            </a:pathLst>
          </a:custGeom>
          <a:gradFill>
            <a:gsLst>
              <a:gs pos="0">
                <a:srgbClr val="376FFF">
                  <a:lumMod val="60000"/>
                  <a:lumOff val="40000"/>
                </a:srgbClr>
              </a:gs>
              <a:gs pos="85000">
                <a:srgbClr val="376FFF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none" lIns="244976" tIns="459330" rIns="0" bIns="0" numCol="1" spcCol="0" rtlCol="0" fromWordArt="0" anchor="ctr" anchorCtr="0" forceAA="0" compatLnSpc="1">
            <a:noAutofit/>
          </a:bodyPr>
          <a:p>
            <a:pPr algn="ctr"/>
            <a:r>
              <a:rPr lang="en-US" altLang="zh-CN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7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03"/>
          <p:cNvSpPr/>
          <p:nvPr>
            <p:custDataLst>
              <p:tags r:id="rId12"/>
            </p:custDataLst>
          </p:nvPr>
        </p:nvSpPr>
        <p:spPr>
          <a:xfrm>
            <a:off x="270510" y="3658755"/>
            <a:ext cx="1827288" cy="1365189"/>
          </a:xfrm>
          <a:custGeom>
            <a:avLst/>
            <a:gdLst>
              <a:gd name="connsiteX0" fmla="*/ 785748 w 2501124"/>
              <a:gd name="connsiteY0" fmla="*/ 0 h 1868621"/>
              <a:gd name="connsiteX1" fmla="*/ 2501124 w 2501124"/>
              <a:gd name="connsiteY1" fmla="*/ 450753 h 1868621"/>
              <a:gd name="connsiteX2" fmla="*/ 2501124 w 2501124"/>
              <a:gd name="connsiteY2" fmla="*/ 1868621 h 1868621"/>
              <a:gd name="connsiteX3" fmla="*/ 0 w 2501124"/>
              <a:gd name="connsiteY3" fmla="*/ 1211396 h 1868621"/>
              <a:gd name="connsiteX4" fmla="*/ 785748 w 2501124"/>
              <a:gd name="connsiteY4" fmla="*/ 0 h 186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1124" h="1868621">
                <a:moveTo>
                  <a:pt x="785748" y="0"/>
                </a:moveTo>
                <a:lnTo>
                  <a:pt x="2501124" y="450753"/>
                </a:lnTo>
                <a:lnTo>
                  <a:pt x="2501124" y="1868621"/>
                </a:lnTo>
                <a:lnTo>
                  <a:pt x="0" y="1211396"/>
                </a:lnTo>
                <a:lnTo>
                  <a:pt x="785748" y="0"/>
                </a:lnTo>
                <a:close/>
              </a:path>
            </a:pathLst>
          </a:custGeom>
          <a:gradFill>
            <a:gsLst>
              <a:gs pos="0">
                <a:srgbClr val="FFC000">
                  <a:lumMod val="60000"/>
                  <a:lumOff val="40000"/>
                </a:srgbClr>
              </a:gs>
              <a:gs pos="85000">
                <a:srgbClr val="FFC000"/>
              </a:gs>
            </a:gsLst>
            <a:lin ang="120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p>
            <a:pPr algn="ctr"/>
            <a:r>
              <a:rPr lang="en-US" altLang="zh-CN" sz="20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04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02"/>
          <p:cNvSpPr/>
          <p:nvPr>
            <p:custDataLst>
              <p:tags r:id="rId13"/>
            </p:custDataLst>
          </p:nvPr>
        </p:nvSpPr>
        <p:spPr>
          <a:xfrm>
            <a:off x="892582" y="2698328"/>
            <a:ext cx="1199981" cy="1193134"/>
          </a:xfrm>
          <a:custGeom>
            <a:avLst/>
            <a:gdLst>
              <a:gd name="connsiteX0" fmla="*/ 779341 w 1642490"/>
              <a:gd name="connsiteY0" fmla="*/ 0 h 1633118"/>
              <a:gd name="connsiteX1" fmla="*/ 1642490 w 1642490"/>
              <a:gd name="connsiteY1" fmla="*/ 226812 h 1633118"/>
              <a:gd name="connsiteX2" fmla="*/ 1642490 w 1642490"/>
              <a:gd name="connsiteY2" fmla="*/ 1633118 h 1633118"/>
              <a:gd name="connsiteX3" fmla="*/ 0 w 1642490"/>
              <a:gd name="connsiteY3" fmla="*/ 1201518 h 1633118"/>
              <a:gd name="connsiteX4" fmla="*/ 779341 w 1642490"/>
              <a:gd name="connsiteY4" fmla="*/ 0 h 1633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2490" h="1633118">
                <a:moveTo>
                  <a:pt x="779341" y="0"/>
                </a:moveTo>
                <a:lnTo>
                  <a:pt x="1642490" y="226812"/>
                </a:lnTo>
                <a:lnTo>
                  <a:pt x="1642490" y="1633118"/>
                </a:lnTo>
                <a:lnTo>
                  <a:pt x="0" y="1201518"/>
                </a:lnTo>
                <a:lnTo>
                  <a:pt x="779341" y="0"/>
                </a:lnTo>
                <a:close/>
              </a:path>
            </a:pathLst>
          </a:custGeom>
          <a:gradFill>
            <a:gsLst>
              <a:gs pos="0">
                <a:srgbClr val="17D594">
                  <a:lumMod val="60000"/>
                  <a:lumOff val="40000"/>
                </a:srgbClr>
              </a:gs>
              <a:gs pos="85000">
                <a:srgbClr val="17D594"/>
              </a:gs>
            </a:gsLst>
            <a:lin ang="120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p>
            <a:pPr algn="ctr"/>
            <a:r>
              <a:rPr lang="en-US" altLang="zh-CN" sz="18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87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01"/>
          <p:cNvSpPr/>
          <p:nvPr>
            <p:custDataLst>
              <p:tags r:id="rId14"/>
            </p:custDataLst>
          </p:nvPr>
        </p:nvSpPr>
        <p:spPr>
          <a:xfrm flipH="1">
            <a:off x="2092796" y="1730230"/>
            <a:ext cx="578155" cy="1039698"/>
          </a:xfrm>
          <a:custGeom>
            <a:avLst/>
            <a:gdLst>
              <a:gd name="connsiteX0" fmla="*/ 788186 w 791357"/>
              <a:gd name="connsiteY0" fmla="*/ 0 h 1423101"/>
              <a:gd name="connsiteX1" fmla="*/ 791357 w 791357"/>
              <a:gd name="connsiteY1" fmla="*/ 5109 h 1423101"/>
              <a:gd name="connsiteX2" fmla="*/ 791357 w 791357"/>
              <a:gd name="connsiteY2" fmla="*/ 1423101 h 1423101"/>
              <a:gd name="connsiteX3" fmla="*/ 0 w 791357"/>
              <a:gd name="connsiteY3" fmla="*/ 1215155 h 142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1357" h="1423101">
                <a:moveTo>
                  <a:pt x="788186" y="0"/>
                </a:moveTo>
                <a:lnTo>
                  <a:pt x="791357" y="5109"/>
                </a:lnTo>
                <a:lnTo>
                  <a:pt x="791357" y="1423101"/>
                </a:lnTo>
                <a:lnTo>
                  <a:pt x="0" y="1215155"/>
                </a:lnTo>
                <a:close/>
              </a:path>
            </a:pathLst>
          </a:custGeom>
          <a:gradFill>
            <a:gsLst>
              <a:gs pos="0">
                <a:srgbClr val="376FFF">
                  <a:lumMod val="60000"/>
                  <a:lumOff val="40000"/>
                </a:srgbClr>
              </a:gs>
              <a:gs pos="85000">
                <a:srgbClr val="376FFF"/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tIns="275470" numCol="1" spcCol="0" rtlCol="0" fromWordArt="0" anchor="ctr" anchorCtr="0" forceAA="0" compatLnSpc="1">
            <a:noAutofit/>
          </a:bodyPr>
          <a:p>
            <a:pPr algn="ctr"/>
            <a:endParaRPr lang="zh-CN" altLang="en-US" sz="119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03"/>
          <p:cNvSpPr/>
          <p:nvPr>
            <p:custDataLst>
              <p:tags r:id="rId15"/>
            </p:custDataLst>
          </p:nvPr>
        </p:nvSpPr>
        <p:spPr>
          <a:xfrm flipH="1">
            <a:off x="2092796" y="3658755"/>
            <a:ext cx="1827288" cy="1365189"/>
          </a:xfrm>
          <a:custGeom>
            <a:avLst/>
            <a:gdLst>
              <a:gd name="connsiteX0" fmla="*/ 785748 w 2501124"/>
              <a:gd name="connsiteY0" fmla="*/ 0 h 1868621"/>
              <a:gd name="connsiteX1" fmla="*/ 2501124 w 2501124"/>
              <a:gd name="connsiteY1" fmla="*/ 450753 h 1868621"/>
              <a:gd name="connsiteX2" fmla="*/ 2501124 w 2501124"/>
              <a:gd name="connsiteY2" fmla="*/ 1868621 h 1868621"/>
              <a:gd name="connsiteX3" fmla="*/ 0 w 2501124"/>
              <a:gd name="connsiteY3" fmla="*/ 1211396 h 1868621"/>
              <a:gd name="connsiteX4" fmla="*/ 785748 w 2501124"/>
              <a:gd name="connsiteY4" fmla="*/ 0 h 186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1124" h="1868621">
                <a:moveTo>
                  <a:pt x="785748" y="0"/>
                </a:moveTo>
                <a:lnTo>
                  <a:pt x="2501124" y="450753"/>
                </a:lnTo>
                <a:lnTo>
                  <a:pt x="2501124" y="1868621"/>
                </a:lnTo>
                <a:lnTo>
                  <a:pt x="0" y="1211396"/>
                </a:lnTo>
                <a:lnTo>
                  <a:pt x="785748" y="0"/>
                </a:lnTo>
                <a:close/>
              </a:path>
            </a:pathLst>
          </a:custGeom>
          <a:gradFill>
            <a:gsLst>
              <a:gs pos="0">
                <a:srgbClr val="FFC000">
                  <a:lumMod val="60000"/>
                  <a:lumOff val="40000"/>
                </a:srgbClr>
              </a:gs>
              <a:gs pos="85000">
                <a:srgbClr val="FFC000"/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endParaRPr lang="zh-CN" altLang="en-US" sz="136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02"/>
          <p:cNvSpPr/>
          <p:nvPr>
            <p:custDataLst>
              <p:tags r:id="rId16"/>
            </p:custDataLst>
          </p:nvPr>
        </p:nvSpPr>
        <p:spPr>
          <a:xfrm flipH="1">
            <a:off x="2092796" y="2698900"/>
            <a:ext cx="1199981" cy="1193134"/>
          </a:xfrm>
          <a:custGeom>
            <a:avLst/>
            <a:gdLst>
              <a:gd name="connsiteX0" fmla="*/ 779341 w 1642490"/>
              <a:gd name="connsiteY0" fmla="*/ 0 h 1633118"/>
              <a:gd name="connsiteX1" fmla="*/ 1642490 w 1642490"/>
              <a:gd name="connsiteY1" fmla="*/ 226812 h 1633118"/>
              <a:gd name="connsiteX2" fmla="*/ 1642490 w 1642490"/>
              <a:gd name="connsiteY2" fmla="*/ 1633118 h 1633118"/>
              <a:gd name="connsiteX3" fmla="*/ 0 w 1642490"/>
              <a:gd name="connsiteY3" fmla="*/ 1201518 h 1633118"/>
              <a:gd name="connsiteX4" fmla="*/ 779341 w 1642490"/>
              <a:gd name="connsiteY4" fmla="*/ 0 h 1633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2490" h="1633118">
                <a:moveTo>
                  <a:pt x="779341" y="0"/>
                </a:moveTo>
                <a:lnTo>
                  <a:pt x="1642490" y="226812"/>
                </a:lnTo>
                <a:lnTo>
                  <a:pt x="1642490" y="1633118"/>
                </a:lnTo>
                <a:lnTo>
                  <a:pt x="0" y="1201518"/>
                </a:lnTo>
                <a:lnTo>
                  <a:pt x="779341" y="0"/>
                </a:lnTo>
                <a:close/>
              </a:path>
            </a:pathLst>
          </a:custGeom>
          <a:gradFill flip="none" rotWithShape="1">
            <a:gsLst>
              <a:gs pos="0">
                <a:srgbClr val="17D594">
                  <a:lumMod val="60000"/>
                  <a:lumOff val="40000"/>
                </a:srgbClr>
              </a:gs>
              <a:gs pos="85000">
                <a:srgbClr val="17D594"/>
              </a:gs>
            </a:gsLst>
            <a:lin ang="19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endParaRPr lang="zh-CN" altLang="en-US" sz="136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17"/>
            </p:custDataLst>
          </p:nvPr>
        </p:nvSpPr>
        <p:spPr>
          <a:xfrm>
            <a:off x="2802319" y="2951960"/>
            <a:ext cx="1482232" cy="5242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40" b="1">
                <a:solidFill>
                  <a:srgbClr val="17D594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生产</a:t>
            </a:r>
            <a:endParaRPr lang="zh-CN" altLang="en-US" sz="2040" b="1">
              <a:solidFill>
                <a:srgbClr val="17D594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>
            <p:custDataLst>
              <p:tags r:id="rId18"/>
            </p:custDataLst>
          </p:nvPr>
        </p:nvSpPr>
        <p:spPr>
          <a:xfrm>
            <a:off x="2802282" y="2001252"/>
            <a:ext cx="1482232" cy="5242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40" b="1" dirty="0">
                <a:solidFill>
                  <a:srgbClr val="376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管理</a:t>
            </a:r>
            <a:endParaRPr lang="en-US" altLang="zh-CN" sz="2040" b="1" dirty="0">
              <a:solidFill>
                <a:srgbClr val="376FF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>
            <a:stCxn id="76" idx="3"/>
          </p:cNvCxnSpPr>
          <p:nvPr/>
        </p:nvCxnSpPr>
        <p:spPr>
          <a:xfrm>
            <a:off x="2670810" y="2618105"/>
            <a:ext cx="17545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3293110" y="3566795"/>
            <a:ext cx="1132205" cy="0"/>
          </a:xfrm>
          <a:prstGeom prst="line">
            <a:avLst/>
          </a:prstGeom>
          <a:ln>
            <a:solidFill>
              <a:srgbClr val="3FE1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3919855" y="4549140"/>
            <a:ext cx="483235" cy="0"/>
          </a:xfrm>
          <a:prstGeom prst="line">
            <a:avLst/>
          </a:prstGeom>
          <a:ln>
            <a:solidFill>
              <a:srgbClr val="FFD04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 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5" name="Shape 3"/>
          <p:cNvSpPr/>
          <p:nvPr/>
        </p:nvSpPr>
        <p:spPr>
          <a:xfrm>
            <a:off x="457200" y="1051560"/>
            <a:ext cx="2560320" cy="1325880"/>
          </a:xfrm>
          <a:prstGeom prst="rect">
            <a:avLst/>
          </a:prstGeom>
          <a:solidFill>
            <a:srgbClr val="F1F5F9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45720" cy="132588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7" name="Text 5"/>
          <p:cNvSpPr/>
          <p:nvPr/>
        </p:nvSpPr>
        <p:spPr>
          <a:xfrm>
            <a:off x="640080" y="11612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11887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58191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班前准备与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危险源辨识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0116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状态确认·任务交底·工具核验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560320" cy="1325880"/>
          </a:xfrm>
          <a:prstGeom prst="rect">
            <a:avLst/>
          </a:prstGeom>
          <a:solidFill>
            <a:srgbClr val="F1F5F9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051560"/>
            <a:ext cx="45720" cy="13258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0"/>
          <p:cNvSpPr/>
          <p:nvPr/>
        </p:nvSpPr>
        <p:spPr>
          <a:xfrm>
            <a:off x="3429000" y="11612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1887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158191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现场安全确认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29000" y="20116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环境勘察·系统校验·设备排查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6035040" y="1051560"/>
            <a:ext cx="2560320" cy="1325880"/>
          </a:xfrm>
          <a:prstGeom prst="rect">
            <a:avLst/>
          </a:prstGeom>
          <a:solidFill>
            <a:srgbClr val="F1F5F9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051560"/>
            <a:ext cx="45720" cy="132588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9" name="Text 15"/>
          <p:cNvSpPr/>
          <p:nvPr/>
        </p:nvSpPr>
        <p:spPr>
          <a:xfrm>
            <a:off x="6217920" y="11612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6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18872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158191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施工过程监督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17920" y="20116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工序启动·关键操作·动态巡查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57200" y="2542032"/>
            <a:ext cx="2560320" cy="1325880"/>
          </a:xfrm>
          <a:prstGeom prst="rect">
            <a:avLst/>
          </a:prstGeom>
          <a:solidFill>
            <a:srgbClr val="F1F5F9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2542032"/>
            <a:ext cx="45720" cy="13258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5" name="Text 20"/>
          <p:cNvSpPr/>
          <p:nvPr/>
        </p:nvSpPr>
        <p:spPr>
          <a:xfrm>
            <a:off x="640080" y="26517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6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2679192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40080" y="3072384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工程质量验收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40080" y="35021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防冲指标·文明生产·标准落地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3246120" y="2542032"/>
            <a:ext cx="2560320" cy="1325880"/>
          </a:xfrm>
          <a:prstGeom prst="rect">
            <a:avLst/>
          </a:prstGeom>
          <a:solidFill>
            <a:srgbClr val="F1F5F9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46120" y="2542032"/>
            <a:ext cx="45720" cy="1325880"/>
          </a:xfrm>
          <a:prstGeom prst="rect">
            <a:avLst/>
          </a:prstGeom>
          <a:solidFill>
            <a:srgbClr val="243B6A"/>
          </a:solidFill>
        </p:spPr>
      </p:sp>
      <p:sp>
        <p:nvSpPr>
          <p:cNvPr id="31" name="Text 25"/>
          <p:cNvSpPr/>
          <p:nvPr/>
        </p:nvSpPr>
        <p:spPr>
          <a:xfrm>
            <a:off x="3429000" y="26517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3B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6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2679192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429000" y="3072384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人员管理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429000" y="35021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状态监督·互保联保·意识强化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6035040" y="2542032"/>
            <a:ext cx="2560320" cy="1325880"/>
          </a:xfrm>
          <a:prstGeom prst="rect">
            <a:avLst/>
          </a:prstGeom>
          <a:solidFill>
            <a:srgbClr val="F1F5F9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035040" y="2542032"/>
            <a:ext cx="45720" cy="132588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7" name="Text 30"/>
          <p:cNvSpPr/>
          <p:nvPr/>
        </p:nvSpPr>
        <p:spPr>
          <a:xfrm>
            <a:off x="6217920" y="26517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26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2679192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217920" y="3072384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隐患排查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与应急处置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217920" y="35021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精准识别·闭环跟踪·快速响应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457200" y="4032504"/>
            <a:ext cx="2560320" cy="1325880"/>
          </a:xfrm>
          <a:prstGeom prst="rect">
            <a:avLst/>
          </a:prstGeom>
          <a:solidFill>
            <a:srgbClr val="F1F5F9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57200" y="4032504"/>
            <a:ext cx="45720" cy="1325880"/>
          </a:xfrm>
          <a:prstGeom prst="rect">
            <a:avLst/>
          </a:prstGeom>
          <a:solidFill>
            <a:srgbClr val="4A6274"/>
          </a:solidFill>
        </p:spPr>
      </p:sp>
      <p:sp>
        <p:nvSpPr>
          <p:cNvPr id="43" name="Text 35"/>
          <p:cNvSpPr/>
          <p:nvPr/>
        </p:nvSpPr>
        <p:spPr>
          <a:xfrm>
            <a:off x="640080" y="414223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62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26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3160" y="4169664"/>
            <a:ext cx="320040" cy="32004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0080" y="4562856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规范交接班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640080" y="499262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班后总结·手拉手交接·责任传递</a:t>
            </a:r>
            <a:endParaRPr lang="en-US" sz="800" dirty="0"/>
          </a:p>
        </p:txBody>
      </p:sp>
      <p:sp>
        <p:nvSpPr>
          <p:cNvPr id="47" name="Shape 38"/>
          <p:cNvSpPr/>
          <p:nvPr/>
        </p:nvSpPr>
        <p:spPr>
          <a:xfrm>
            <a:off x="3246120" y="4032504"/>
            <a:ext cx="2560320" cy="1325880"/>
          </a:xfrm>
          <a:prstGeom prst="rect">
            <a:avLst/>
          </a:prstGeom>
          <a:solidFill>
            <a:srgbClr val="F1F5F9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3246120" y="4032504"/>
            <a:ext cx="45720" cy="132588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49" name="Text 40"/>
          <p:cNvSpPr/>
          <p:nvPr/>
        </p:nvSpPr>
        <p:spPr>
          <a:xfrm>
            <a:off x="3429000" y="414223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26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0" y="4169664"/>
            <a:ext cx="320040" cy="32004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3429000" y="4562856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技术与设备管理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（副队长重点）</a:t>
            </a:r>
            <a:endParaRPr lang="en-US" sz="1200" dirty="0"/>
          </a:p>
        </p:txBody>
      </p:sp>
      <p:sp>
        <p:nvSpPr>
          <p:cNvPr id="52" name="Text 42"/>
          <p:cNvSpPr/>
          <p:nvPr/>
        </p:nvSpPr>
        <p:spPr>
          <a:xfrm>
            <a:off x="3429000" y="499262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规程执行·设备管控·技术把关</a:t>
            </a:r>
            <a:endParaRPr lang="en-US" sz="800" dirty="0"/>
          </a:p>
        </p:txBody>
      </p:sp>
      <p:sp>
        <p:nvSpPr>
          <p:cNvPr id="53" name="Shape 43"/>
          <p:cNvSpPr/>
          <p:nvPr/>
        </p:nvSpPr>
        <p:spPr>
          <a:xfrm>
            <a:off x="6035040" y="4032504"/>
            <a:ext cx="2560320" cy="1325880"/>
          </a:xfrm>
          <a:prstGeom prst="rect">
            <a:avLst/>
          </a:prstGeom>
          <a:solidFill>
            <a:srgbClr val="F1F5F9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6035040" y="4032504"/>
            <a:ext cx="45720" cy="13258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5" name="Text 45"/>
          <p:cNvSpPr/>
          <p:nvPr/>
        </p:nvSpPr>
        <p:spPr>
          <a:xfrm>
            <a:off x="6217920" y="414223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2600" dirty="0"/>
          </a:p>
        </p:txBody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4169664"/>
            <a:ext cx="320040" cy="320040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6217920" y="4562856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团队建设与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能力提升（副队长重点）</a:t>
            </a:r>
            <a:endParaRPr lang="en-US" sz="1200" dirty="0"/>
          </a:p>
        </p:txBody>
      </p:sp>
      <p:sp>
        <p:nvSpPr>
          <p:cNvPr id="58" name="Text 47"/>
          <p:cNvSpPr/>
          <p:nvPr/>
        </p:nvSpPr>
        <p:spPr>
          <a:xfrm>
            <a:off x="6217920" y="499262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劳动竞赛·技术练兵·业务培训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班前准备与危险源辨识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个人状态确认 · 班前会 · 任务交底 · 劳动防护用品核查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31920" cy="3108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3931920" cy="45720"/>
          </a:xfrm>
          <a:prstGeom prst="rect">
            <a:avLst/>
          </a:prstGeom>
          <a:solidFill>
            <a:srgbClr val="E8590C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6276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个人状态与资质确认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77240" y="2203704"/>
            <a:ext cx="146304" cy="146304"/>
          </a:xfrm>
          <a:prstGeom prst="ellipse">
            <a:avLst/>
          </a:prstGeom>
          <a:solidFill>
            <a:srgbClr val="E8590C"/>
          </a:solidFill>
        </p:spPr>
      </p:sp>
      <p:sp>
        <p:nvSpPr>
          <p:cNvPr id="12" name="Text 9"/>
          <p:cNvSpPr/>
          <p:nvPr/>
        </p:nvSpPr>
        <p:spPr>
          <a:xfrm>
            <a:off x="1051560" y="21488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精神状态确认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51560" y="238658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确认无疲劳、无饮酒、无情绪异常，保证充足休息，以最佳身心状态入井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77240" y="2770632"/>
            <a:ext cx="146304" cy="146304"/>
          </a:xfrm>
          <a:prstGeom prst="ellipse">
            <a:avLst/>
          </a:prstGeom>
          <a:solidFill>
            <a:srgbClr val="E8590C"/>
          </a:solidFill>
        </p:spPr>
      </p:sp>
      <p:sp>
        <p:nvSpPr>
          <p:cNvPr id="15" name="Text 12"/>
          <p:cNvSpPr/>
          <p:nvPr/>
        </p:nvSpPr>
        <p:spPr>
          <a:xfrm>
            <a:off x="1051560" y="271576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持证上岗核查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51560" y="295351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逐一核验特种作业操作证有效期，确保人证合一、资质合规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77240" y="3337560"/>
            <a:ext cx="146304" cy="146304"/>
          </a:xfrm>
          <a:prstGeom prst="ellipse">
            <a:avLst/>
          </a:prstGeom>
          <a:solidFill>
            <a:srgbClr val="E8590C"/>
          </a:solidFill>
        </p:spPr>
      </p:sp>
      <p:sp>
        <p:nvSpPr>
          <p:cNvPr id="18" name="Text 15"/>
          <p:cNvSpPr/>
          <p:nvPr/>
        </p:nvSpPr>
        <p:spPr>
          <a:xfrm>
            <a:off x="1051560" y="3282696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劳动防护装备检查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51560" y="35204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检查自救器、矿灯、安全帽、防砸靴、防护手套等佩戴齐全、性能完好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77240" y="3904488"/>
            <a:ext cx="146304" cy="146304"/>
          </a:xfrm>
          <a:prstGeom prst="ellipse">
            <a:avLst/>
          </a:prstGeom>
          <a:solidFill>
            <a:srgbClr val="E8590C"/>
          </a:solidFill>
        </p:spPr>
      </p:sp>
      <p:sp>
        <p:nvSpPr>
          <p:cNvPr id="21" name="Text 18"/>
          <p:cNvSpPr/>
          <p:nvPr/>
        </p:nvSpPr>
        <p:spPr>
          <a:xfrm>
            <a:off x="1051560" y="384962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安全装备互检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51560" y="408736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班组成员相互检查安全装备佩戴情况，实行"双确认"，杜绝遗漏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54880" y="1417320"/>
            <a:ext cx="3931920" cy="3108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1417320"/>
            <a:ext cx="3931920" cy="45720"/>
          </a:xfrm>
          <a:prstGeom prst="rect">
            <a:avLst/>
          </a:prstGeom>
          <a:solidFill>
            <a:srgbClr val="243B6A"/>
          </a:solidFill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45920"/>
            <a:ext cx="347472" cy="34747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440680" y="16276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班前会与任务交底落实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5074920" y="2203704"/>
            <a:ext cx="146304" cy="146304"/>
          </a:xfrm>
          <a:prstGeom prst="ellipse">
            <a:avLst/>
          </a:prstGeom>
          <a:solidFill>
            <a:srgbClr val="243B6A"/>
          </a:solidFill>
        </p:spPr>
      </p:sp>
      <p:sp>
        <p:nvSpPr>
          <p:cNvPr id="28" name="Text 24"/>
          <p:cNvSpPr/>
          <p:nvPr/>
        </p:nvSpPr>
        <p:spPr>
          <a:xfrm>
            <a:off x="5349240" y="21488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严格考勤点名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349240" y="238658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确认当班全员到齐，记录出勤情况，确保无缺员、无顶替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5074920" y="2770632"/>
            <a:ext cx="146304" cy="146304"/>
          </a:xfrm>
          <a:prstGeom prst="ellipse">
            <a:avLst/>
          </a:prstGeom>
          <a:solidFill>
            <a:srgbClr val="243B6A"/>
          </a:solidFill>
        </p:spPr>
      </p:sp>
      <p:sp>
        <p:nvSpPr>
          <p:cNvPr id="31" name="Text 27"/>
          <p:cNvSpPr/>
          <p:nvPr/>
        </p:nvSpPr>
        <p:spPr>
          <a:xfrm>
            <a:off x="5349240" y="271576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任务与地点明确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349240" y="295351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手指施工图板，明确当班施工任务、作业地点、工程量及时间节点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074920" y="3337560"/>
            <a:ext cx="146304" cy="146304"/>
          </a:xfrm>
          <a:prstGeom prst="ellipse">
            <a:avLst/>
          </a:prstGeom>
          <a:solidFill>
            <a:srgbClr val="243B6A"/>
          </a:solidFill>
        </p:spPr>
      </p:sp>
      <p:sp>
        <p:nvSpPr>
          <p:cNvPr id="34" name="Text 30"/>
          <p:cNvSpPr/>
          <p:nvPr/>
        </p:nvSpPr>
        <p:spPr>
          <a:xfrm>
            <a:off x="5349240" y="3282696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规程措施学习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5349240" y="35204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组织学习《作业规程》及专项施工措施，逐项交底重点危险源与管控方案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5074920" y="3904488"/>
            <a:ext cx="146304" cy="146304"/>
          </a:xfrm>
          <a:prstGeom prst="ellipse">
            <a:avLst/>
          </a:prstGeom>
          <a:solidFill>
            <a:srgbClr val="243B6A"/>
          </a:solidFill>
        </p:spPr>
      </p:sp>
      <p:sp>
        <p:nvSpPr>
          <p:cNvPr id="37" name="Text 33"/>
          <p:cNvSpPr/>
          <p:nvPr/>
        </p:nvSpPr>
        <p:spPr>
          <a:xfrm>
            <a:off x="5349240" y="384962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安全宣誓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5349240" y="408736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集体安全宣誓，强化安全意识，明确"安全第一、预防为主"原则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班前准备与危险源辨识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设备与工具核验 —— 工欲善其事，必先利其器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51760" cy="3108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2651760" cy="45720"/>
          </a:xfrm>
          <a:prstGeom prst="rect">
            <a:avLst/>
          </a:prstGeom>
          <a:solidFill>
            <a:srgbClr val="E8590C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58191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施工工具全面核验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2194560"/>
            <a:ext cx="54864" cy="54864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12" name="Text 9"/>
          <p:cNvSpPr/>
          <p:nvPr/>
        </p:nvSpPr>
        <p:spPr>
          <a:xfrm>
            <a:off x="841248" y="213055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手指工具箱，确认钻机、钻杆、压力表、测量尺等核心工具齐全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85800" y="2743200"/>
            <a:ext cx="54864" cy="54864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14" name="Text 11"/>
          <p:cNvSpPr/>
          <p:nvPr/>
        </p:nvSpPr>
        <p:spPr>
          <a:xfrm>
            <a:off x="841248" y="267919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逐一检查工具外观无破损、无裂纹、无变形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85800" y="3291840"/>
            <a:ext cx="54864" cy="54864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16" name="Text 13"/>
          <p:cNvSpPr/>
          <p:nvPr/>
        </p:nvSpPr>
        <p:spPr>
          <a:xfrm>
            <a:off x="841248" y="322783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试运转钻机，确认运转平稳、无异响、无卡滞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85800" y="3840480"/>
            <a:ext cx="54864" cy="54864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18" name="Text 15"/>
          <p:cNvSpPr/>
          <p:nvPr/>
        </p:nvSpPr>
        <p:spPr>
          <a:xfrm>
            <a:off x="841248" y="377647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确认备品备件充足，满足当班作业需要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91840" y="1417320"/>
            <a:ext cx="2651760" cy="3108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91840" y="1417320"/>
            <a:ext cx="2651760" cy="45720"/>
          </a:xfrm>
          <a:prstGeom prst="rect">
            <a:avLst/>
          </a:prstGeom>
          <a:solidFill>
            <a:srgbClr val="243B6A"/>
          </a:solidFill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0020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886200" y="158191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监测仪器状态确认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3520440" y="2194560"/>
            <a:ext cx="54864" cy="54864"/>
          </a:xfrm>
          <a:prstGeom prst="rect">
            <a:avLst/>
          </a:prstGeom>
          <a:solidFill>
            <a:srgbClr val="243B6A"/>
          </a:solidFill>
        </p:spPr>
      </p:sp>
      <p:sp>
        <p:nvSpPr>
          <p:cNvPr id="24" name="Text 20"/>
          <p:cNvSpPr/>
          <p:nvPr/>
        </p:nvSpPr>
        <p:spPr>
          <a:xfrm>
            <a:off x="3675888" y="213055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手指检测仪，确认应力监测仪、微震监测仪电量充足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520440" y="2743200"/>
            <a:ext cx="54864" cy="54864"/>
          </a:xfrm>
          <a:prstGeom prst="rect">
            <a:avLst/>
          </a:prstGeom>
          <a:solidFill>
            <a:srgbClr val="243B6A"/>
          </a:solidFill>
        </p:spPr>
      </p:sp>
      <p:sp>
        <p:nvSpPr>
          <p:cNvPr id="26" name="Text 22"/>
          <p:cNvSpPr/>
          <p:nvPr/>
        </p:nvSpPr>
        <p:spPr>
          <a:xfrm>
            <a:off x="3675888" y="267919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核验数值显示准确、零点校准到位、运行工况正常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3520440" y="3291840"/>
            <a:ext cx="54864" cy="54864"/>
          </a:xfrm>
          <a:prstGeom prst="rect">
            <a:avLst/>
          </a:prstGeom>
          <a:solidFill>
            <a:srgbClr val="243B6A"/>
          </a:solidFill>
        </p:spPr>
      </p:sp>
      <p:sp>
        <p:nvSpPr>
          <p:cNvPr id="28" name="Text 24"/>
          <p:cNvSpPr/>
          <p:nvPr/>
        </p:nvSpPr>
        <p:spPr>
          <a:xfrm>
            <a:off x="3675888" y="322783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检查便携式瓦斯检测仪灵敏度，确认报警阈值设置正确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520440" y="3840480"/>
            <a:ext cx="54864" cy="54864"/>
          </a:xfrm>
          <a:prstGeom prst="rect">
            <a:avLst/>
          </a:prstGeom>
          <a:solidFill>
            <a:srgbClr val="243B6A"/>
          </a:solidFill>
        </p:spPr>
      </p:sp>
      <p:sp>
        <p:nvSpPr>
          <p:cNvPr id="30" name="Text 26"/>
          <p:cNvSpPr/>
          <p:nvPr/>
        </p:nvSpPr>
        <p:spPr>
          <a:xfrm>
            <a:off x="3675888" y="377647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确认监测数据实时回传功能正常，无数据断点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126480" y="1417320"/>
            <a:ext cx="2651760" cy="3108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126480" y="1417320"/>
            <a:ext cx="2651760" cy="4572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320040" cy="32004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720840" y="158191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通讯与应急设备校验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6355080" y="2194560"/>
            <a:ext cx="54864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6" name="Text 31"/>
          <p:cNvSpPr/>
          <p:nvPr/>
        </p:nvSpPr>
        <p:spPr>
          <a:xfrm>
            <a:off x="6510528" y="213055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手指对讲机，确认信号强度良好、频道设置正确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6355080" y="2743200"/>
            <a:ext cx="54864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8" name="Text 33"/>
          <p:cNvSpPr/>
          <p:nvPr/>
        </p:nvSpPr>
        <p:spPr>
          <a:xfrm>
            <a:off x="6510528" y="267919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逐一通话测试，确保语音清晰无干扰、覆盖全作业区域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6355080" y="3291840"/>
            <a:ext cx="54864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0" name="Text 35"/>
          <p:cNvSpPr/>
          <p:nvPr/>
        </p:nvSpPr>
        <p:spPr>
          <a:xfrm>
            <a:off x="6510528" y="322783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检查应急广播、警报装置功能完好，确认应急物资就位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6355080" y="3840480"/>
            <a:ext cx="54864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2" name="Text 37"/>
          <p:cNvSpPr/>
          <p:nvPr/>
        </p:nvSpPr>
        <p:spPr>
          <a:xfrm>
            <a:off x="6510528" y="377647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核验人员定位卡电量与信号，确保人员轨迹可追踪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现场安全确认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"先确认、后作业"——环境安全检查 · 五大关键环节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5176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8191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54533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19659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敲帮问顶无危岩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25856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手持长柄工具检查作业区域顶帮，确认无松动岩石、活矸悬矸，彻底排除冒顶风险。敲击声音清脆为安全，空响闷声应立即标记处理。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91840" y="1417320"/>
            <a:ext cx="265176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58191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94760" y="154533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474720" y="19659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支护完好无失效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225856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仔细检查巷道顶板及两帮锚杆、锚索、钢带等支护结构，确保无变形、无断裂、无托盘松动，支护强度符合设计要求。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126480" y="1417320"/>
            <a:ext cx="265176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8191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29400" y="154533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309360" y="19659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通风系统正常运行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9360" y="225856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确认局部通风机运转正常、无异常振动；风筒吊挂平直、接口严密无漏风；作业地点风量充足，有害气体能有效稀释。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57200" y="3063240"/>
            <a:ext cx="397764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2783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319125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1325880" y="3191256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瓦斯浓度达标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40080" y="365760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使用便携式瓦检仪多点检测，确认瓦斯浓度低于报警值（＜0.8%），无局部超限积聚。检测数据如实记录并签字确认。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800600" y="3063240"/>
            <a:ext cx="397764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227832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03520" y="319125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3"/>
          <p:cNvSpPr/>
          <p:nvPr/>
        </p:nvSpPr>
        <p:spPr>
          <a:xfrm>
            <a:off x="5669280" y="3191256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退路畅通无阻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983480" y="365760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确认安全出口标识清晰、撤退路线平整无杂物堆积、应急照明完好，确保紧急情况下人员能快速、有序撤离至安全区域。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现场安全确认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监测系统校验 · 设备设施排查 · 副队长技术把关重点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31920" cy="3154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544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监测系统状态确认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73152" cy="5486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0" name="Text 8"/>
          <p:cNvSpPr/>
          <p:nvPr/>
        </p:nvSpPr>
        <p:spPr>
          <a:xfrm>
            <a:off x="960120" y="205740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应力在线监测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29514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数据实时回传正常，系统无红色预警，各项指标处于安全阈值内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73152" cy="5486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3" name="Text 11"/>
          <p:cNvSpPr/>
          <p:nvPr/>
        </p:nvSpPr>
        <p:spPr>
          <a:xfrm>
            <a:off x="960120" y="278892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微震与钻屑确认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302666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微震监测无异常能量事件；上一班钻屑量未超标，煤体状态稳定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73152" cy="5486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6" name="Text 14"/>
          <p:cNvSpPr/>
          <p:nvPr/>
        </p:nvSpPr>
        <p:spPr>
          <a:xfrm>
            <a:off x="960120" y="352044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顶板离层仪监测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375818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读数稳定无异常波动，顶板岩层结构完整，未出现离层、垮落风险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3931920" cy="3154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417320"/>
            <a:ext cx="3931920" cy="4572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20" name="Text 18"/>
          <p:cNvSpPr/>
          <p:nvPr/>
        </p:nvSpPr>
        <p:spPr>
          <a:xfrm>
            <a:off x="4983480" y="15544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防冲设备设施排查（副队长技术把关）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2075688"/>
            <a:ext cx="128016" cy="128016"/>
          </a:xfrm>
          <a:prstGeom prst="ellipse">
            <a:avLst/>
          </a:prstGeom>
          <a:solidFill>
            <a:srgbClr val="E8590C"/>
          </a:solidFill>
        </p:spPr>
      </p:sp>
      <p:sp>
        <p:nvSpPr>
          <p:cNvPr id="22" name="Text 20"/>
          <p:cNvSpPr/>
          <p:nvPr/>
        </p:nvSpPr>
        <p:spPr>
          <a:xfrm>
            <a:off x="5257800" y="202996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防冲钻机本体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57800" y="223113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安装稳固无位移，连接螺栓紧固、销轴可靠，运转工况良好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0" y="2670048"/>
            <a:ext cx="128016" cy="128016"/>
          </a:xfrm>
          <a:prstGeom prst="ellipse">
            <a:avLst/>
          </a:prstGeom>
          <a:solidFill>
            <a:srgbClr val="E8590C"/>
          </a:solidFill>
        </p:spPr>
      </p:sp>
      <p:sp>
        <p:nvSpPr>
          <p:cNvPr id="25" name="Text 23"/>
          <p:cNvSpPr/>
          <p:nvPr/>
        </p:nvSpPr>
        <p:spPr>
          <a:xfrm>
            <a:off x="5257800" y="262432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液压系统与管路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57800" y="282549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压力值符合额定参数，管路接头无渗油漏油，走向规范无挤压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0" y="3264408"/>
            <a:ext cx="128016" cy="128016"/>
          </a:xfrm>
          <a:prstGeom prst="ellipse">
            <a:avLst/>
          </a:prstGeom>
          <a:solidFill>
            <a:srgbClr val="E8590C"/>
          </a:solidFill>
        </p:spPr>
      </p:sp>
      <p:sp>
        <p:nvSpPr>
          <p:cNvPr id="28" name="Text 26"/>
          <p:cNvSpPr/>
          <p:nvPr/>
        </p:nvSpPr>
        <p:spPr>
          <a:xfrm>
            <a:off x="5257800" y="321868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电气设备与线缆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57800" y="341985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开关控制箱完好无失爆，电缆吊挂整齐无老化，接地保护有效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0" y="3858768"/>
            <a:ext cx="128016" cy="128016"/>
          </a:xfrm>
          <a:prstGeom prst="ellipse">
            <a:avLst/>
          </a:prstGeom>
          <a:solidFill>
            <a:srgbClr val="E8590C"/>
          </a:solidFill>
        </p:spPr>
      </p:sp>
      <p:sp>
        <p:nvSpPr>
          <p:cNvPr id="31" name="Text 29"/>
          <p:cNvSpPr/>
          <p:nvPr/>
        </p:nvSpPr>
        <p:spPr>
          <a:xfrm>
            <a:off x="5257800" y="381304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安全防护设施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57800" y="401421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防护罩、护栏、紧急停机按钮等完好有效，警示标识清晰完整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施工过程监督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工序启动确认 · 关键操作监督 · 全过程动态巡查 · 副队长技术指导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114800" cy="3108960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828800"/>
            <a:ext cx="1097280" cy="1097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10896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施工过程监督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标准化作业流程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39319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全员确认岗位安全 → 清空作业区域 → 核对信号指令 → 启动工序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846320" y="1417320"/>
            <a:ext cx="3840480" cy="14173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417320"/>
            <a:ext cx="45720" cy="141732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13" name="Text 10"/>
          <p:cNvSpPr/>
          <p:nvPr/>
        </p:nvSpPr>
        <p:spPr>
          <a:xfrm>
            <a:off x="5074920" y="15087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工序启动确认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74920" y="187452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全员确认岗位安全，作业区域清空、无关人员撤离至安全位置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操作人员就位，信号核对无误，严格执行"手指口述"启动流程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副队长确认技术措施到位，确保工序启动零风险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0" y="3017520"/>
            <a:ext cx="3840480" cy="15087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3017520"/>
            <a:ext cx="45720" cy="1508760"/>
          </a:xfrm>
          <a:prstGeom prst="rect">
            <a:avLst/>
          </a:prstGeom>
          <a:solidFill>
            <a:srgbClr val="243B6A"/>
          </a:solidFill>
        </p:spPr>
      </p:sp>
      <p:sp>
        <p:nvSpPr>
          <p:cNvPr id="17" name="Text 14"/>
          <p:cNvSpPr/>
          <p:nvPr/>
        </p:nvSpPr>
        <p:spPr>
          <a:xfrm>
            <a:off x="5074920" y="31089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关键操作监督（卸压钻孔）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74920" y="347472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43B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核对钻孔位置与设计参数一致，钻机角度精准调整到位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43B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监督钻进速度平稳无卡钻、吸钻，确认钻屑量正常无动力效应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43B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副队长全程跟踪技术参数执行，及时纠正操作偏差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工程质量验收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防冲工程质量确认 · 文明生产标准化 · 副队长质量把关职责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31920" cy="3108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58191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4.1 防冲工程质量确认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3000" y="192024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（以防冲卸压钻孔为例）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2331720"/>
            <a:ext cx="146304" cy="14630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2" name="Text 9"/>
          <p:cNvSpPr/>
          <p:nvPr/>
        </p:nvSpPr>
        <p:spPr>
          <a:xfrm>
            <a:off x="1051560" y="2286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核对钻孔数量与排列方式，确认符合设计要求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" y="2862072"/>
            <a:ext cx="146304" cy="14630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4" name="Text 11"/>
          <p:cNvSpPr/>
          <p:nvPr/>
        </p:nvSpPr>
        <p:spPr>
          <a:xfrm>
            <a:off x="1051560" y="281635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逐孔测量深度、角度、间距等关键参数，偏差在允许范围内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7240" y="3392424"/>
            <a:ext cx="146304" cy="14630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6" name="Text 13"/>
          <p:cNvSpPr/>
          <p:nvPr/>
        </p:nvSpPr>
        <p:spPr>
          <a:xfrm>
            <a:off x="1051560" y="334670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检查封孔严密性，确保封孔材料、工艺合规，无渗漏风险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7240" y="3922776"/>
            <a:ext cx="146304" cy="14630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8" name="Text 15"/>
          <p:cNvSpPr/>
          <p:nvPr/>
        </p:nvSpPr>
        <p:spPr>
          <a:xfrm>
            <a:off x="1051560" y="38770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核验卸压措施效果指标，确认其低于临界值，防冲措施有效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1417320"/>
            <a:ext cx="393192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1417320"/>
            <a:ext cx="39319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8"/>
          <p:cNvSpPr/>
          <p:nvPr/>
        </p:nvSpPr>
        <p:spPr>
          <a:xfrm>
            <a:off x="4983480" y="15544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4.2 文明生产标准化确认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983480" y="192024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"工完料尽场地清"：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施工垃圾彻底清理，剩余材料分类码放整齐、标识清晰，设备清洁归位至指定区域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54880" y="2971800"/>
            <a:ext cx="3931920" cy="1554480"/>
          </a:xfrm>
          <a:prstGeom prst="rect">
            <a:avLst/>
          </a:prstGeom>
          <a:solidFill>
            <a:srgbClr val="1B2A4A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154680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40680" y="313639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副队长重点职责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029200" y="356616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9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负责本队安全生产标准化和文明生产工作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9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积极参加上级组织的安全生产标准化检查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9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针对安全生产方面提出合理化改进建议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人员管理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状态监督 · 互保联保 · 全员安全 · 副队长培训组织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023360" cy="3108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4023360" cy="45720"/>
          </a:xfrm>
          <a:prstGeom prst="rect">
            <a:avLst/>
          </a:prstGeom>
          <a:solidFill>
            <a:srgbClr val="E8590C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27632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627632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人员状态全时监督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01168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动态跟踪每位员工的作业状态，及时发现异常并干预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31520" y="2377440"/>
            <a:ext cx="54864" cy="54864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13" name="Text 10"/>
          <p:cNvSpPr/>
          <p:nvPr/>
        </p:nvSpPr>
        <p:spPr>
          <a:xfrm>
            <a:off x="914400" y="2313432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重点关注员工精神状态，严禁疲劳作业、带病作业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31520" y="2907792"/>
            <a:ext cx="54864" cy="54864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15" name="Text 12"/>
          <p:cNvSpPr/>
          <p:nvPr/>
        </p:nvSpPr>
        <p:spPr>
          <a:xfrm>
            <a:off x="914400" y="2843784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现场及时制止违章操作，严格规范作业动作与站位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31520" y="3438144"/>
            <a:ext cx="54864" cy="54864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17" name="Text 14"/>
          <p:cNvSpPr/>
          <p:nvPr/>
        </p:nvSpPr>
        <p:spPr>
          <a:xfrm>
            <a:off x="914400" y="3374136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确认全员掌握岗位风险告知内容，警示标识清晰可见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31520" y="3968496"/>
            <a:ext cx="54864" cy="54864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19" name="Text 16"/>
          <p:cNvSpPr/>
          <p:nvPr/>
        </p:nvSpPr>
        <p:spPr>
          <a:xfrm>
            <a:off x="914400" y="3904488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班中定时巡回检查，发现状态异常人员立即安排轮换休息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754880" y="1417320"/>
            <a:ext cx="4023360" cy="3108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1417320"/>
            <a:ext cx="4023360" cy="45720"/>
          </a:xfrm>
          <a:prstGeom prst="rect">
            <a:avLst/>
          </a:prstGeom>
          <a:solidFill>
            <a:srgbClr val="243B6A"/>
          </a:solidFill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27632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376672" y="1627632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互保联保机制落地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983480" y="201168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构建"一对一、面对面"的安全互助网络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029200" y="2377440"/>
            <a:ext cx="54864" cy="54864"/>
          </a:xfrm>
          <a:prstGeom prst="rect">
            <a:avLst/>
          </a:prstGeom>
          <a:solidFill>
            <a:srgbClr val="243B6A"/>
          </a:solidFill>
        </p:spPr>
      </p:sp>
      <p:sp>
        <p:nvSpPr>
          <p:cNvPr id="26" name="Text 22"/>
          <p:cNvSpPr/>
          <p:nvPr/>
        </p:nvSpPr>
        <p:spPr>
          <a:xfrm>
            <a:off x="5212080" y="2313432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开工前明确联保对子，落实互保责任，双方签字确认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5029200" y="2907792"/>
            <a:ext cx="54864" cy="54864"/>
          </a:xfrm>
          <a:prstGeom prst="rect">
            <a:avLst/>
          </a:prstGeom>
          <a:solidFill>
            <a:srgbClr val="243B6A"/>
          </a:solidFill>
        </p:spPr>
      </p:sp>
      <p:sp>
        <p:nvSpPr>
          <p:cNvPr id="28" name="Text 24"/>
          <p:cNvSpPr/>
          <p:nvPr/>
        </p:nvSpPr>
        <p:spPr>
          <a:xfrm>
            <a:off x="5212080" y="2843784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作业中强化协同监护，确保联保人员在同一视线范围内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029200" y="3438144"/>
            <a:ext cx="54864" cy="54864"/>
          </a:xfrm>
          <a:prstGeom prst="rect">
            <a:avLst/>
          </a:prstGeom>
          <a:solidFill>
            <a:srgbClr val="243B6A"/>
          </a:solidFill>
        </p:spPr>
      </p:sp>
      <p:sp>
        <p:nvSpPr>
          <p:cNvPr id="30" name="Text 26"/>
          <p:cNvSpPr/>
          <p:nvPr/>
        </p:nvSpPr>
        <p:spPr>
          <a:xfrm>
            <a:off x="5212080" y="3374136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实行"同班同组、同上同下"，联保对子不得分离作业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029200" y="3968496"/>
            <a:ext cx="54864" cy="54864"/>
          </a:xfrm>
          <a:prstGeom prst="rect">
            <a:avLst/>
          </a:prstGeom>
          <a:solidFill>
            <a:srgbClr val="243B6A"/>
          </a:solidFill>
        </p:spPr>
      </p:sp>
      <p:sp>
        <p:nvSpPr>
          <p:cNvPr id="32" name="Text 28"/>
          <p:cNvSpPr/>
          <p:nvPr/>
        </p:nvSpPr>
        <p:spPr>
          <a:xfrm>
            <a:off x="5212080" y="3904488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建立联保考核机制，实现"人人为我、我为人人"的安全文化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隐患排查与处理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隐患识别报告 · 闭环跟踪管理 · 副队长技术决策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31920" cy="3108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3931920" cy="4572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2763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627632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隐患识别与报告：三步闭环响应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2240280"/>
            <a:ext cx="182880" cy="182880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2" name="Text 9"/>
          <p:cNvSpPr/>
          <p:nvPr/>
        </p:nvSpPr>
        <p:spPr>
          <a:xfrm>
            <a:off x="731520" y="224028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51560" y="21945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现场确认风险源，立即设置警戒线封锁危险区域，严禁人员进入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31520" y="2971800"/>
            <a:ext cx="182880" cy="182880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5" name="Text 12"/>
          <p:cNvSpPr/>
          <p:nvPr/>
        </p:nvSpPr>
        <p:spPr>
          <a:xfrm>
            <a:off x="731520" y="297180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51560" y="292608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通过对讲机向调度室/队部详细汇报隐患位置、类型、严重程度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1520" y="3703320"/>
            <a:ext cx="182880" cy="182880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8" name="Text 15"/>
          <p:cNvSpPr/>
          <p:nvPr/>
        </p:nvSpPr>
        <p:spPr>
          <a:xfrm>
            <a:off x="731520" y="370332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51560" y="365760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同步留存影像证据，确保信息传递准确、可追溯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1520" y="3931920"/>
            <a:ext cx="3383280" cy="59436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21" name="Text 18"/>
          <p:cNvSpPr/>
          <p:nvPr/>
        </p:nvSpPr>
        <p:spPr>
          <a:xfrm>
            <a:off x="868680" y="395935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副队长：负责组织解决技术及管理上的关键问题，现场跟班指导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54880" y="1417320"/>
            <a:ext cx="3931920" cy="3108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54880" y="1417320"/>
            <a:ext cx="3931920" cy="45720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27632"/>
            <a:ext cx="347472" cy="347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40680" y="1627632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隐患处理与跟踪：全流程闭环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5029200" y="2240280"/>
            <a:ext cx="182880" cy="18288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7" name="Text 23"/>
          <p:cNvSpPr/>
          <p:nvPr/>
        </p:nvSpPr>
        <p:spPr>
          <a:xfrm>
            <a:off x="5029200" y="224028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349240" y="21945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专人监督整改全过程，确保整改措施科学到位、不打折扣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5029200" y="2971800"/>
            <a:ext cx="182880" cy="18288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30" name="Text 26"/>
          <p:cNvSpPr/>
          <p:nvPr/>
        </p:nvSpPr>
        <p:spPr>
          <a:xfrm>
            <a:off x="5029200" y="297180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349240" y="292608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整改结束后必须经专业人员复查验收，确认符合安全标准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029200" y="3703320"/>
            <a:ext cx="182880" cy="18288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33" name="Text 29"/>
          <p:cNvSpPr/>
          <p:nvPr/>
        </p:nvSpPr>
        <p:spPr>
          <a:xfrm>
            <a:off x="5029200" y="370332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349240" y="365760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在《隐患排查记录本》签字销号，实现全生命周期闭环管控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5029200" y="3923030"/>
            <a:ext cx="3383280" cy="5943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6" name="Text 32"/>
          <p:cNvSpPr/>
          <p:nvPr/>
        </p:nvSpPr>
        <p:spPr>
          <a:xfrm>
            <a:off x="5166360" y="395046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闭环管理：发现→登记→整改→复查→销号，步步留痕、环环相扣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隐患排查与处理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应急预案 · 紧急撤离 · 副队长现场指挥职责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51760" cy="22860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2651760" cy="54864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087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07568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立即停工撤人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46888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发现监测数据超限或冲击预兆时，立即做出紧急手势并大声呼喊，停止所有作业活动，指挥现场人员严格按照避灾路线快速、有序撤离至安全地点。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91840" y="1417320"/>
            <a:ext cx="2651760" cy="22860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417320"/>
            <a:ext cx="2651760" cy="548640"/>
          </a:xfrm>
          <a:prstGeom prst="rect">
            <a:avLst/>
          </a:prstGeom>
          <a:solidFill>
            <a:srgbClr val="E8590C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087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207568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清点人数确认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246888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全员撤至安全区域后，必须立即清点人数，逐一核对名单，确认无人员被困或遗漏，确保所有涉险人员均已到达安全地带，做到人数清、情况明。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126480" y="1417320"/>
            <a:ext cx="2651760" cy="22860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417320"/>
            <a:ext cx="2651760" cy="548640"/>
          </a:xfrm>
          <a:prstGeom prst="rect">
            <a:avLst/>
          </a:prstGeom>
          <a:solidFill>
            <a:srgbClr val="243B6A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5087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207568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及时汇报请求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9360" y="246888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立即向矿调度室准确汇报隐患地点、危险类型、人员撤离情况及现场现状，在得到调度室明确指示前，严禁任何人返回危险区域。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1B2A4A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05072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39319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副队长应急处置职责：防冲作业时必须跟班到现场，检查监督设备情况和规程措施执行情况；对现场的新情况、新问题及时采取处置措施，提出整改意见。经常深入井下，掌握现场具体情况，确保关键时刻决策准确、指挥有力。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规范交接班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班后总结 · "手拉手"现场交接 · 责任无缝传递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31920" cy="3108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2763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62763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班后总结与准备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2011680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闭环梳理当班工作，确保数据无异常、现场整洁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77240" y="2377440"/>
            <a:ext cx="54864" cy="54864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12" name="Text 9"/>
          <p:cNvSpPr/>
          <p:nvPr/>
        </p:nvSpPr>
        <p:spPr>
          <a:xfrm>
            <a:off x="960120" y="23317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任务完成度确认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60120" y="2551176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逐一核对当班施工任务完成度，确认无遗漏、无偏差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77240" y="2907792"/>
            <a:ext cx="54864" cy="54864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15" name="Text 12"/>
          <p:cNvSpPr/>
          <p:nvPr/>
        </p:nvSpPr>
        <p:spPr>
          <a:xfrm>
            <a:off x="960120" y="286207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工程质量与台账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60120" y="308152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检查工程质量验收记录、隐患排查台账、监测数据是否完整准确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77240" y="3438144"/>
            <a:ext cx="54864" cy="54864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18" name="Text 15"/>
          <p:cNvSpPr/>
          <p:nvPr/>
        </p:nvSpPr>
        <p:spPr>
          <a:xfrm>
            <a:off x="960120" y="339242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现场清理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60120" y="361188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"工完场清"——清理作业现场，材料归位，为下一班创造安全整洁环境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77240" y="3968496"/>
            <a:ext cx="54864" cy="54864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21" name="Text 18"/>
          <p:cNvSpPr/>
          <p:nvPr/>
        </p:nvSpPr>
        <p:spPr>
          <a:xfrm>
            <a:off x="960120" y="3922776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问题汇总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60120" y="4142232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梳理当班发现的新问题、新情况，准备在交接时重点交底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54880" y="1417320"/>
            <a:ext cx="3931920" cy="3108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1417320"/>
            <a:ext cx="3931920" cy="4572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27632"/>
            <a:ext cx="320040" cy="3200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413248" y="162763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现场"手拉手"交接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983480" y="2011680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面对面确认现场安全状况与隐患细节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5074920" y="2377440"/>
            <a:ext cx="54864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9" name="Text 25"/>
          <p:cNvSpPr/>
          <p:nvPr/>
        </p:nvSpPr>
        <p:spPr>
          <a:xfrm>
            <a:off x="5257800" y="23317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联合巡查关键点位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5257800" y="2551176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与接班队长共同巡查顶板、支护、瓦斯等关键点位，逐项确认安全状况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5074920" y="2907792"/>
            <a:ext cx="54864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2" name="Text 28"/>
          <p:cNvSpPr/>
          <p:nvPr/>
        </p:nvSpPr>
        <p:spPr>
          <a:xfrm>
            <a:off x="5257800" y="286207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隐患重点交底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5257800" y="308152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对未处理隐患及临时管控措施进行详细交底，确保接班人员清晰掌握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5074920" y="3438144"/>
            <a:ext cx="54864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5" name="Text 31"/>
          <p:cNvSpPr/>
          <p:nvPr/>
        </p:nvSpPr>
        <p:spPr>
          <a:xfrm>
            <a:off x="5257800" y="339242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数据与记录移交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5257800" y="361188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移交当班施工记录、监测数据、隐患排查台账，确保信息完整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5074920" y="3968496"/>
            <a:ext cx="54864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8" name="Text 34"/>
          <p:cNvSpPr/>
          <p:nvPr/>
        </p:nvSpPr>
        <p:spPr>
          <a:xfrm>
            <a:off x="5257800" y="3922776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双方签字确认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5257800" y="4142232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现场核验无误后双方签字确认，责任清晰可溯，保障生产连续性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技术与设备管理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规程执行 · 设备管控 · 技术把关 · 小改小革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023360" cy="15087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" cy="1508760"/>
          </a:xfrm>
          <a:prstGeom prst="rect">
            <a:avLst/>
          </a:prstGeom>
          <a:solidFill>
            <a:srgbClr val="E8590C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48132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"三大"规程执行检查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1938528"/>
            <a:ext cx="45720" cy="4572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12" name="Text 9"/>
          <p:cNvSpPr/>
          <p:nvPr/>
        </p:nvSpPr>
        <p:spPr>
          <a:xfrm>
            <a:off x="896112" y="1883664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负责检查执行《煤矿安全规程》《作业规程》《操作规程》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520" y="2240280"/>
            <a:ext cx="45720" cy="4572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14" name="Text 11"/>
          <p:cNvSpPr/>
          <p:nvPr/>
        </p:nvSpPr>
        <p:spPr>
          <a:xfrm>
            <a:off x="896112" y="2185416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认真贯彻执行防冲技术方针、政策、规定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31520" y="2542032"/>
            <a:ext cx="45720" cy="4572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16" name="Text 13"/>
          <p:cNvSpPr/>
          <p:nvPr/>
        </p:nvSpPr>
        <p:spPr>
          <a:xfrm>
            <a:off x="896112" y="2487168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把好防冲技术关，解决具体技术问题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54880" y="1371600"/>
            <a:ext cx="4023360" cy="15087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1371600"/>
            <a:ext cx="54864" cy="1508760"/>
          </a:xfrm>
          <a:prstGeom prst="rect">
            <a:avLst/>
          </a:prstGeom>
          <a:solidFill>
            <a:srgbClr val="243B6A"/>
          </a:solidFill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0876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49240" y="148132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防冲设备管理与维修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029200" y="1938528"/>
            <a:ext cx="45720" cy="45720"/>
          </a:xfrm>
          <a:prstGeom prst="rect">
            <a:avLst/>
          </a:prstGeom>
          <a:solidFill>
            <a:srgbClr val="243B6A"/>
          </a:solidFill>
        </p:spPr>
      </p:sp>
      <p:sp>
        <p:nvSpPr>
          <p:cNvPr id="22" name="Text 18"/>
          <p:cNvSpPr/>
          <p:nvPr/>
        </p:nvSpPr>
        <p:spPr>
          <a:xfrm>
            <a:off x="5193792" y="1883664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负责做好防冲设备管理和维修工作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029200" y="2240280"/>
            <a:ext cx="45720" cy="45720"/>
          </a:xfrm>
          <a:prstGeom prst="rect">
            <a:avLst/>
          </a:prstGeom>
          <a:solidFill>
            <a:srgbClr val="243B6A"/>
          </a:solidFill>
        </p:spPr>
      </p:sp>
      <p:sp>
        <p:nvSpPr>
          <p:cNvPr id="24" name="Text 20"/>
          <p:cNvSpPr/>
          <p:nvPr/>
        </p:nvSpPr>
        <p:spPr>
          <a:xfrm>
            <a:off x="5193792" y="2185416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建立健全设备管理规章制度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029200" y="2542032"/>
            <a:ext cx="45720" cy="45720"/>
          </a:xfrm>
          <a:prstGeom prst="rect">
            <a:avLst/>
          </a:prstGeom>
          <a:solidFill>
            <a:srgbClr val="243B6A"/>
          </a:solidFill>
        </p:spPr>
      </p:sp>
      <p:sp>
        <p:nvSpPr>
          <p:cNvPr id="26" name="Text 22"/>
          <p:cNvSpPr/>
          <p:nvPr/>
        </p:nvSpPr>
        <p:spPr>
          <a:xfrm>
            <a:off x="5193792" y="2487168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严格执行设备合格施工安全技术措施和作业规程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57200" y="3035808"/>
            <a:ext cx="4023360" cy="15087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57200" y="3035808"/>
            <a:ext cx="54864" cy="1508760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72968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051560" y="3145536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现场技术指导与监督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731520" y="3602736"/>
            <a:ext cx="45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2" name="Text 27"/>
          <p:cNvSpPr/>
          <p:nvPr/>
        </p:nvSpPr>
        <p:spPr>
          <a:xfrm>
            <a:off x="896112" y="3547872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经常深入井下，掌握现场具体情况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731520" y="3904488"/>
            <a:ext cx="45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4" name="Text 29"/>
          <p:cNvSpPr/>
          <p:nvPr/>
        </p:nvSpPr>
        <p:spPr>
          <a:xfrm>
            <a:off x="896112" y="3849624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组织解决技术及管理上的关键问题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731520" y="4206240"/>
            <a:ext cx="45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6" name="Text 31"/>
          <p:cNvSpPr/>
          <p:nvPr/>
        </p:nvSpPr>
        <p:spPr>
          <a:xfrm>
            <a:off x="896112" y="4151376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防冲作业时必须跟班到现场检查监督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4754880" y="3035808"/>
            <a:ext cx="4023360" cy="15087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4754880" y="3035808"/>
            <a:ext cx="54864" cy="150876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72968"/>
            <a:ext cx="274320" cy="27432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349240" y="3145536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小改小革与技术创新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5029200" y="3602736"/>
            <a:ext cx="45720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2" name="Text 36"/>
          <p:cNvSpPr/>
          <p:nvPr/>
        </p:nvSpPr>
        <p:spPr>
          <a:xfrm>
            <a:off x="5193792" y="3547872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不断进行小改小革，优化施工工艺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5029200" y="3904488"/>
            <a:ext cx="45720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4" name="Text 38"/>
          <p:cNvSpPr/>
          <p:nvPr/>
        </p:nvSpPr>
        <p:spPr>
          <a:xfrm>
            <a:off x="5193792" y="3849624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针对安全生产方面提出合理化建议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5029200" y="4206240"/>
            <a:ext cx="45720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6" name="Text 40"/>
          <p:cNvSpPr/>
          <p:nvPr/>
        </p:nvSpPr>
        <p:spPr>
          <a:xfrm>
            <a:off x="5193792" y="4151376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对现场新情况、新问题采取改进措施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团队建设与能力提升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劳动竞赛 · 技术练兵 · 业务培训 · 会议组织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31920" cy="1554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3931920" cy="45720"/>
          </a:xfrm>
          <a:prstGeom prst="rect">
            <a:avLst/>
          </a:prstGeom>
          <a:solidFill>
            <a:srgbClr val="E8590C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60020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组织劳动竞赛与技术练兵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1993392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负责组织实施正常防冲作业，保证施工进度与质量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组织工种劳动竞赛，激发团队工作积极性与创造性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组织技术练兵活动，提升全员实际操作技能水平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54880" y="1417320"/>
            <a:ext cx="3931920" cy="1554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417320"/>
            <a:ext cx="3931920" cy="45720"/>
          </a:xfrm>
          <a:prstGeom prst="rect">
            <a:avLst/>
          </a:prstGeom>
          <a:solidFill>
            <a:srgbClr val="243B6A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0020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60020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职工业务培训与学习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0" y="1993392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43B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不断加强自身业务学习，提升管理能力与技术水平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43B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搞好职工业务培训和学习，提升团队整体素质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43B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针对性开展防冲技术专项培训，提高全员防灾意识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57200" y="3154680"/>
            <a:ext cx="822960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154680"/>
            <a:ext cx="8229600" cy="4572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3756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333756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会议组织与工作研究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097280" y="370332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参加队务会议，研究解决本队安全生产与管理问题</a:t>
            </a:r>
            <a:r>
              <a:rPr lang="en-US" sz="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</a:t>
            </a:r>
            <a:r>
              <a:rPr lang="en-US" sz="95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根据防冲工作需要负责召开班组长等参加的会议，分析研究防冲任务完成情况</a:t>
            </a:r>
            <a:r>
              <a:rPr lang="en-US" sz="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</a:t>
            </a:r>
            <a:r>
              <a:rPr lang="en-US" sz="95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总结经验教训，及时向队长报告工作，主动提出改进工作的建议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责任传承  安全永恒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200400" y="1691640"/>
            <a:ext cx="2743200" cy="36576"/>
          </a:xfrm>
          <a:prstGeom prst="rect">
            <a:avLst/>
          </a:prstGeom>
          <a:solidFill>
            <a:srgbClr val="E8590C"/>
          </a:solidFill>
        </p:spPr>
      </p:sp>
      <p:sp>
        <p:nvSpPr>
          <p:cNvPr id="5" name="Text 3"/>
          <p:cNvSpPr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手中传递的不仅是工具，更是沉甸甸的责任；</a:t>
            </a:r>
            <a:endParaRPr lang="en-US" sz="18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口中说出的不仅是指令，更是对生命的庄严承诺。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783080" cy="1508760"/>
          </a:xfrm>
          <a:prstGeom prst="rect">
            <a:avLst/>
          </a:prstGeom>
          <a:solidFill>
            <a:srgbClr val="1B2A4A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32004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767328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上标准岗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4078224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干标准活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97480" y="3017520"/>
            <a:ext cx="1783080" cy="1508760"/>
          </a:xfrm>
          <a:prstGeom prst="rect">
            <a:avLst/>
          </a:prstGeom>
          <a:solidFill>
            <a:srgbClr val="1B2A4A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32004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7480" y="3767328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手口并用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697480" y="4078224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确认到位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54880" y="3017520"/>
            <a:ext cx="1783080" cy="1508760"/>
          </a:xfrm>
          <a:prstGeom prst="rect">
            <a:avLst/>
          </a:prstGeom>
          <a:solidFill>
            <a:srgbClr val="1B2A4A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20040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3767328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风险预控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754880" y="4078224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闭环管理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812280" y="3017520"/>
            <a:ext cx="1783080" cy="1508760"/>
          </a:xfrm>
          <a:prstGeom prst="rect">
            <a:avLst/>
          </a:prstGeom>
          <a:solidFill>
            <a:srgbClr val="1B2A4A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20040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12280" y="3767328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59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清晰洪亮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812280" y="4078224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指令明确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4.8,&quot;left&quot;:36,&quot;top&quot;:111.6,&quot;width&quot;:648}"/>
</p:tagLst>
</file>

<file path=ppt/tags/tag2.xml><?xml version="1.0" encoding="utf-8"?>
<p:tagLst xmlns:p="http://schemas.openxmlformats.org/presentationml/2006/main">
  <p:tag name="KSO_WM_DIAGRAM_VIRTUALLY_FRAME" val="{&quot;height&quot;:244.8,&quot;left&quot;:36,&quot;top&quot;:111.6,&quot;width&quot;:648}"/>
</p:tagLst>
</file>

<file path=ppt/tags/tag3.xml><?xml version="1.0" encoding="utf-8"?>
<p:tagLst xmlns:p="http://schemas.openxmlformats.org/presentationml/2006/main">
  <p:tag name="KSO_WM_DIAGRAM_VIRTUALLY_FRAME" val="{&quot;height&quot;:244.8,&quot;left&quot;:36,&quot;top&quot;:111.6,&quot;width&quot;:648}"/>
</p:tagLst>
</file>

<file path=ppt/tags/tag4.xml><?xml version="1.0" encoding="utf-8"?>
<p:tagLst xmlns:p="http://schemas.openxmlformats.org/presentationml/2006/main">
  <p:tag name="KSO_WM_DIAGRAM_VIRTUALLY_FRAME" val="{&quot;height&quot;:244.8,&quot;left&quot;:36,&quot;top&quot;:111.6,&quot;width&quot;:648}"/>
</p:tagLst>
</file>

<file path=ppt/tags/tag5.xml><?xml version="1.0" encoding="utf-8"?>
<p:tagLst xmlns:p="http://schemas.openxmlformats.org/presentationml/2006/main">
  <p:tag name="KSO_WM_DIAGRAM_VIRTUALLY_FRAME" val="{&quot;height&quot;:244.8,&quot;left&quot;:36,&quot;top&quot;:111.6,&quot;width&quot;:648}"/>
</p:tagLst>
</file>

<file path=ppt/tags/tag6.xml><?xml version="1.0" encoding="utf-8"?>
<p:tagLst xmlns:p="http://schemas.openxmlformats.org/presentationml/2006/main">
  <p:tag name="KSO_WM_DIAGRAM_VIRTUALLY_FRAME" val="{&quot;height&quot;:244.8,&quot;left&quot;:36,&quot;top&quot;:111.6,&quot;width&quot;:648}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o_h_a"/>
  <p:tag name="KSO_WM_UNIT_INDEX" val="1_3_1"/>
  <p:tag name="KSO_WM_UNIT_ID" val="diagram20231104_1*o_h_a*1_3_1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3"/>
  <p:tag name="KSO_WM_DIAGRAM_VIRTUALLY_FRAME" val="{&quot;height&quot;:276.9861366663416,&quot;left&quot;:17.45,&quot;top&quot;:118.6,&quot;width&quot;:606.8656692913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4_1*o_h_i*1_2_4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o1-1"/>
  <p:tag name="KSO_WM_UNIT_TYPE" val="o_h_i"/>
  <p:tag name="KSO_WM_UNIT_INDEX" val="1_2_4"/>
  <p:tag name="KSO_WM_DIAGRAM_MAX_ITEMCNT" val="6"/>
  <p:tag name="KSO_WM_DIAGRAM_MIN_ITEMCNT" val="3"/>
  <p:tag name="KSO_WM_DIAGRAM_VIRTUALLY_FRAME" val="{&quot;height&quot;:276.9861366663416,&quot;left&quot;:17.45,&quot;top&quot;:118.6,&quot;width&quot;:606.8656692913388}"/>
  <p:tag name="KSO_WM_DIAGRAM_COLOR_MATCH_VALUE" val="{&quot;shape&quot;:{&quot;fill&quot;:{&quot;solid&quot;:{&quot;brightness&quot;:-0.25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-0.25"/>
  <p:tag name="KSO_WM_DIAGRAM_USE_COLOR_VALUE" val="{&quot;color_scheme&quot;:1,&quot;color_type&quot;:1,&quot;theme_color_indexes&quot;:[]}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4_1*o_h_i*1_3_4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o1-1"/>
  <p:tag name="KSO_WM_UNIT_TYPE" val="o_h_i"/>
  <p:tag name="KSO_WM_UNIT_INDEX" val="1_3_4"/>
  <p:tag name="KSO_WM_DIAGRAM_MAX_ITEMCNT" val="6"/>
  <p:tag name="KSO_WM_DIAGRAM_MIN_ITEMCNT" val="3"/>
  <p:tag name="KSO_WM_DIAGRAM_VIRTUALLY_FRAME" val="{&quot;height&quot;:276.9861366663416,&quot;left&quot;:17.45,&quot;top&quot;:118.6,&quot;width&quot;:606.8656692913388}"/>
  <p:tag name="KSO_WM_DIAGRAM_COLOR_MATCH_VALUE" val="{&quot;shape&quot;:{&quot;fill&quot;:{&quot;solid&quot;:{&quot;brightness&quot;:-0.25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-0.25"/>
  <p:tag name="KSO_WM_DIAGRAM_USE_COLOR_VALUE" val="{&quot;color_scheme&quot;:1,&quot;color_type&quot;:1,&quot;theme_color_indexes&quot;:[]}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1"/>
  <p:tag name="KSO_WM_UNIT_ID" val="diagram20231104_1*o_h_i*1_1_1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76.9861366663416,&quot;left&quot;:17.45,&quot;top&quot;:118.6,&quot;width&quot;:606.8656692913388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1"/>
  <p:tag name="KSO_WM_UNIT_ID" val="diagram20231104_1*o_h_i*1_3_1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76.9861366663416,&quot;left&quot;:17.45,&quot;top&quot;:118.6,&quot;width&quot;:606.8656692913388}"/>
  <p:tag name="KSO_WM_DIAGRAM_COLOR_MATCH_VALUE" val="{&quot;shape&quot;:{&quot;fill&quot;:{&quot;gradient&quot;:[{&quot;brightness&quot;:0.4000000059604645,&quot;colorType&quot;:1,&quot;foreColorIndex&quot;:7,&quot;pos&quot;:0,&quot;transparency&quot;:0},{&quot;brightness&quot;:0,&quot;colorType&quot;:1,&quot;foreColorIndex&quot;:7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1"/>
  <p:tag name="KSO_WM_UNIT_ID" val="diagram20231104_1*o_h_i*1_2_1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76.9861366663416,&quot;left&quot;:17.45,&quot;top&quot;:118.6,&quot;width&quot;:606.8656692913388}"/>
  <p:tag name="KSO_WM_DIAGRAM_COLOR_MATCH_VALUE" val="{&quot;shape&quot;:{&quot;fill&quot;:{&quot;gradient&quot;:[{&quot;brightness&quot;:0.4000000059604645,&quot;colorType&quot;:1,&quot;foreColorIndex&quot;:6,&quot;pos&quot;:0,&quot;transparency&quot;:0},{&quot;brightness&quot;:0,&quot;colorType&quot;:1,&quot;foreColorIndex&quot;:6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3"/>
  <p:tag name="KSO_WM_UNIT_ID" val="diagram20231104_1*o_h_i*1_1_3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76.9861366663416,&quot;left&quot;:17.45,&quot;top&quot;:118.6,&quot;width&quot;:606.8656692913388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3"/>
  <p:tag name="KSO_WM_UNIT_ID" val="diagram20231104_1*o_h_i*1_3_3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76.9861366663416,&quot;left&quot;:17.45,&quot;top&quot;:118.6,&quot;width&quot;:606.8656692913388}"/>
  <p:tag name="KSO_WM_DIAGRAM_COLOR_MATCH_VALUE" val="{&quot;shape&quot;:{&quot;fill&quot;:{&quot;gradient&quot;:[{&quot;brightness&quot;:0.4000000059604645,&quot;colorType&quot;:1,&quot;foreColorIndex&quot;:7,&quot;pos&quot;:0,&quot;transparency&quot;:0},{&quot;brightness&quot;:0,&quot;colorType&quot;:1,&quot;foreColorIndex&quot;:7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3"/>
  <p:tag name="KSO_WM_UNIT_ID" val="diagram20231104_1*o_h_i*1_2_3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76.9861366663416,&quot;left&quot;:17.45,&quot;top&quot;:118.6,&quot;width&quot;:606.8656692913388}"/>
  <p:tag name="KSO_WM_DIAGRAM_COLOR_MATCH_VALUE" val="{&quot;shape&quot;:{&quot;fill&quot;:{&quot;gradient&quot;:[{&quot;brightness&quot;:0.4000000059604645,&quot;colorType&quot;:1,&quot;foreColorIndex&quot;:6,&quot;pos&quot;:0,&quot;transparency&quot;:0},{&quot;brightness&quot;:0,&quot;colorType&quot;:1,&quot;foreColorIndex&quot;:6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o_h_a"/>
  <p:tag name="KSO_WM_UNIT_INDEX" val="1_2_1"/>
  <p:tag name="KSO_WM_UNIT_ID" val="diagram20231104_1*o_h_a*1_2_1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3"/>
  <p:tag name="KSO_WM_DIAGRAM_VIRTUALLY_FRAME" val="{&quot;height&quot;:276.9861366663416,&quot;left&quot;:17.45,&quot;top&quot;:118.6,&quot;width&quot;:606.8656692913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o_h_a"/>
  <p:tag name="KSO_WM_UNIT_INDEX" val="1_1_1"/>
  <p:tag name="KSO_WM_UNIT_ID" val="diagram20231104_1*o_h_a*1_1_1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3"/>
  <p:tag name="KSO_WM_DIAGRAM_VIRTUALLY_FRAME" val="{&quot;height&quot;:276.9861366663416,&quot;left&quot;:17.45,&quot;top&quot;:118.6,&quot;width&quot;:606.8656692913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resource_record_key" val="{&quot;70&quot;:[3314558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4349</Words>
  <Application>WPS 演示</Application>
  <PresentationFormat>On-screen Show (16:9)</PresentationFormat>
  <Paragraphs>515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防冲队跟班队长/副队长手指口述安全确认法</dc:title>
  <dc:creator>防冲队</dc:creator>
  <dc:subject>PptxGenJS Presentation</dc:subject>
  <cp:lastModifiedBy>lzj</cp:lastModifiedBy>
  <cp:revision>4</cp:revision>
  <dcterms:created xsi:type="dcterms:W3CDTF">2026-06-25T02:04:00Z</dcterms:created>
  <dcterms:modified xsi:type="dcterms:W3CDTF">2026-06-27T01:24:15Z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4721E326C6B44D9DAA08F40936FAF1D9_12</vt:lpwstr>
  </property>
</Properties>
</file>